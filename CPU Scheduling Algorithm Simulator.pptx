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Canva Sans Bold" panose="020B0604020202020204" charset="0"/>
      <p:regular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  <p:embeddedFont>
      <p:font typeface="Montserrat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CA48D-D629-47C8-9EA1-56597636BC53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4E554-5525-42AE-8780-8EF1986CF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44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4E554-5525-42AE-8780-8EF1986CF1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9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svg"/><Relationship Id="rId7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1.svg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1.sv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069440">
            <a:off x="15841516" y="8759882"/>
            <a:ext cx="1760068" cy="2323974"/>
          </a:xfrm>
          <a:custGeom>
            <a:avLst/>
            <a:gdLst/>
            <a:ahLst/>
            <a:cxnLst/>
            <a:rect l="l" t="t" r="r" b="b"/>
            <a:pathLst>
              <a:path w="1760068" h="2323974">
                <a:moveTo>
                  <a:pt x="0" y="0"/>
                </a:moveTo>
                <a:lnTo>
                  <a:pt x="1760068" y="0"/>
                </a:lnTo>
                <a:lnTo>
                  <a:pt x="1760068" y="2323973"/>
                </a:lnTo>
                <a:lnTo>
                  <a:pt x="0" y="232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0013059" y="-1566683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5"/>
                </a:moveTo>
                <a:lnTo>
                  <a:pt x="2102741" y="2776435"/>
                </a:lnTo>
                <a:lnTo>
                  <a:pt x="2102741" y="0"/>
                </a:lnTo>
                <a:lnTo>
                  <a:pt x="0" y="0"/>
                </a:lnTo>
                <a:lnTo>
                  <a:pt x="0" y="27764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5924236" y="7789647"/>
            <a:ext cx="797314" cy="797314"/>
          </a:xfrm>
          <a:custGeom>
            <a:avLst/>
            <a:gdLst/>
            <a:ahLst/>
            <a:cxnLst/>
            <a:rect l="l" t="t" r="r" b="b"/>
            <a:pathLst>
              <a:path w="797314" h="797314">
                <a:moveTo>
                  <a:pt x="0" y="0"/>
                </a:moveTo>
                <a:lnTo>
                  <a:pt x="797314" y="0"/>
                </a:lnTo>
                <a:lnTo>
                  <a:pt x="797314" y="797314"/>
                </a:lnTo>
                <a:lnTo>
                  <a:pt x="0" y="797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65248" y="9494452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045592" y="102870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6" y="0"/>
                </a:lnTo>
                <a:lnTo>
                  <a:pt x="427416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0" y="-1282290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4"/>
                </a:moveTo>
                <a:lnTo>
                  <a:pt x="2102741" y="2776434"/>
                </a:lnTo>
                <a:lnTo>
                  <a:pt x="2102741" y="0"/>
                </a:lnTo>
                <a:lnTo>
                  <a:pt x="0" y="0"/>
                </a:lnTo>
                <a:lnTo>
                  <a:pt x="0" y="27764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02840" y="3340591"/>
            <a:ext cx="5246370" cy="5246370"/>
            <a:chOff x="0" y="0"/>
            <a:chExt cx="6348730" cy="6348730"/>
          </a:xfrm>
        </p:grpSpPr>
        <p:sp>
          <p:nvSpPr>
            <p:cNvPr id="9" name="Freeform 9"/>
            <p:cNvSpPr/>
            <p:nvPr/>
          </p:nvSpPr>
          <p:spPr>
            <a:xfrm>
              <a:off x="66040" y="67310"/>
              <a:ext cx="6207760" cy="6206490"/>
            </a:xfrm>
            <a:custGeom>
              <a:avLst/>
              <a:gdLst/>
              <a:ahLst/>
              <a:cxnLst/>
              <a:rect l="l" t="t" r="r" b="b"/>
              <a:pathLst>
                <a:path w="6207760" h="6206490">
                  <a:moveTo>
                    <a:pt x="6207760" y="1667510"/>
                  </a:moveTo>
                  <a:lnTo>
                    <a:pt x="6207760" y="6206490"/>
                  </a:lnTo>
                  <a:lnTo>
                    <a:pt x="1668780" y="6206490"/>
                  </a:lnTo>
                  <a:cubicBezTo>
                    <a:pt x="749300" y="6206490"/>
                    <a:pt x="0" y="5458460"/>
                    <a:pt x="0" y="4538980"/>
                  </a:cubicBezTo>
                  <a:lnTo>
                    <a:pt x="0" y="0"/>
                  </a:lnTo>
                  <a:lnTo>
                    <a:pt x="4538980" y="0"/>
                  </a:lnTo>
                  <a:cubicBezTo>
                    <a:pt x="5458460" y="0"/>
                    <a:pt x="6207760" y="748030"/>
                    <a:pt x="6207760" y="1668780"/>
                  </a:cubicBezTo>
                  <a:close/>
                </a:path>
              </a:pathLst>
            </a:custGeom>
            <a:blipFill>
              <a:blip r:embed="rId8"/>
              <a:stretch>
                <a:fillRect l="-39728" r="-60230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48730" cy="6348730"/>
            </a:xfrm>
            <a:custGeom>
              <a:avLst/>
              <a:gdLst/>
              <a:ahLst/>
              <a:cxnLst/>
              <a:rect l="l" t="t" r="r" b="b"/>
              <a:pathLst>
                <a:path w="6348730" h="6348730">
                  <a:moveTo>
                    <a:pt x="6348730" y="1765300"/>
                  </a:moveTo>
                  <a:lnTo>
                    <a:pt x="6348730" y="6348730"/>
                  </a:lnTo>
                  <a:lnTo>
                    <a:pt x="1765300" y="6348730"/>
                  </a:lnTo>
                  <a:cubicBezTo>
                    <a:pt x="792480" y="6348730"/>
                    <a:pt x="0" y="5557520"/>
                    <a:pt x="0" y="4583430"/>
                  </a:cubicBezTo>
                  <a:lnTo>
                    <a:pt x="0" y="0"/>
                  </a:lnTo>
                  <a:lnTo>
                    <a:pt x="4583430" y="0"/>
                  </a:lnTo>
                  <a:cubicBezTo>
                    <a:pt x="5556250" y="0"/>
                    <a:pt x="6348730" y="792480"/>
                    <a:pt x="6348730" y="1765300"/>
                  </a:cubicBezTo>
                  <a:close/>
                  <a:moveTo>
                    <a:pt x="6221730" y="6221730"/>
                  </a:moveTo>
                  <a:lnTo>
                    <a:pt x="6221730" y="1765300"/>
                  </a:lnTo>
                  <a:cubicBezTo>
                    <a:pt x="6221730" y="862330"/>
                    <a:pt x="5486400" y="127000"/>
                    <a:pt x="4583430" y="127000"/>
                  </a:cubicBezTo>
                  <a:lnTo>
                    <a:pt x="127000" y="127000"/>
                  </a:lnTo>
                  <a:lnTo>
                    <a:pt x="127000" y="4583430"/>
                  </a:lnTo>
                  <a:cubicBezTo>
                    <a:pt x="127000" y="5486400"/>
                    <a:pt x="862330" y="6221730"/>
                    <a:pt x="1765300" y="6221730"/>
                  </a:cubicBezTo>
                  <a:lnTo>
                    <a:pt x="6221730" y="6221730"/>
                  </a:lnTo>
                  <a:close/>
                </a:path>
              </a:pathLst>
            </a:custGeom>
            <a:solidFill>
              <a:srgbClr val="32E0F4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354915" y="4237770"/>
            <a:ext cx="10366635" cy="353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83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CPU Scheduling Algorithm Simulator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64918" y="1552138"/>
            <a:ext cx="8958165" cy="112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6599" b="1">
                <a:solidFill>
                  <a:srgbClr val="BDE6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Semester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7223" y="3324265"/>
            <a:ext cx="7245912" cy="1819235"/>
            <a:chOff x="0" y="0"/>
            <a:chExt cx="1490928" cy="374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0928" cy="374328"/>
            </a:xfrm>
            <a:custGeom>
              <a:avLst/>
              <a:gdLst/>
              <a:ahLst/>
              <a:cxnLst/>
              <a:rect l="l" t="t" r="r" b="b"/>
              <a:pathLst>
                <a:path w="1490928" h="374328">
                  <a:moveTo>
                    <a:pt x="20868" y="0"/>
                  </a:moveTo>
                  <a:lnTo>
                    <a:pt x="1470060" y="0"/>
                  </a:lnTo>
                  <a:cubicBezTo>
                    <a:pt x="1481585" y="0"/>
                    <a:pt x="1490928" y="9343"/>
                    <a:pt x="1490928" y="20868"/>
                  </a:cubicBezTo>
                  <a:lnTo>
                    <a:pt x="1490928" y="353460"/>
                  </a:lnTo>
                  <a:cubicBezTo>
                    <a:pt x="1490928" y="364985"/>
                    <a:pt x="1481585" y="374328"/>
                    <a:pt x="1470060" y="374328"/>
                  </a:cubicBezTo>
                  <a:lnTo>
                    <a:pt x="20868" y="374328"/>
                  </a:lnTo>
                  <a:cubicBezTo>
                    <a:pt x="9343" y="374328"/>
                    <a:pt x="0" y="364985"/>
                    <a:pt x="0" y="353460"/>
                  </a:cubicBezTo>
                  <a:lnTo>
                    <a:pt x="0" y="20868"/>
                  </a:lnTo>
                  <a:cubicBezTo>
                    <a:pt x="0" y="9343"/>
                    <a:pt x="9343" y="0"/>
                    <a:pt x="20868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90928" cy="42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39612" y="5489600"/>
            <a:ext cx="7492514" cy="1940800"/>
            <a:chOff x="0" y="0"/>
            <a:chExt cx="1445105" cy="3743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5105" cy="374328"/>
            </a:xfrm>
            <a:custGeom>
              <a:avLst/>
              <a:gdLst/>
              <a:ahLst/>
              <a:cxnLst/>
              <a:rect l="l" t="t" r="r" b="b"/>
              <a:pathLst>
                <a:path w="1445105" h="374328">
                  <a:moveTo>
                    <a:pt x="20181" y="0"/>
                  </a:moveTo>
                  <a:lnTo>
                    <a:pt x="1424924" y="0"/>
                  </a:lnTo>
                  <a:cubicBezTo>
                    <a:pt x="1430276" y="0"/>
                    <a:pt x="1435409" y="2126"/>
                    <a:pt x="1439194" y="5911"/>
                  </a:cubicBezTo>
                  <a:cubicBezTo>
                    <a:pt x="1442979" y="9696"/>
                    <a:pt x="1445105" y="14829"/>
                    <a:pt x="1445105" y="20181"/>
                  </a:cubicBezTo>
                  <a:lnTo>
                    <a:pt x="1445105" y="354147"/>
                  </a:lnTo>
                  <a:cubicBezTo>
                    <a:pt x="1445105" y="359499"/>
                    <a:pt x="1442979" y="364633"/>
                    <a:pt x="1439194" y="368417"/>
                  </a:cubicBezTo>
                  <a:cubicBezTo>
                    <a:pt x="1435409" y="372202"/>
                    <a:pt x="1430276" y="374328"/>
                    <a:pt x="1424924" y="374328"/>
                  </a:cubicBezTo>
                  <a:lnTo>
                    <a:pt x="20181" y="374328"/>
                  </a:lnTo>
                  <a:cubicBezTo>
                    <a:pt x="14829" y="374328"/>
                    <a:pt x="9696" y="372202"/>
                    <a:pt x="5911" y="368417"/>
                  </a:cubicBezTo>
                  <a:cubicBezTo>
                    <a:pt x="2126" y="364633"/>
                    <a:pt x="0" y="359499"/>
                    <a:pt x="0" y="354147"/>
                  </a:cubicBezTo>
                  <a:lnTo>
                    <a:pt x="0" y="20181"/>
                  </a:lnTo>
                  <a:cubicBezTo>
                    <a:pt x="0" y="14829"/>
                    <a:pt x="2126" y="9696"/>
                    <a:pt x="5911" y="5911"/>
                  </a:cubicBezTo>
                  <a:cubicBezTo>
                    <a:pt x="9696" y="2126"/>
                    <a:pt x="14829" y="0"/>
                    <a:pt x="20181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45105" cy="42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07598" y="7773300"/>
            <a:ext cx="6817934" cy="1819235"/>
            <a:chOff x="0" y="0"/>
            <a:chExt cx="1402867" cy="3743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2867" cy="374328"/>
            </a:xfrm>
            <a:custGeom>
              <a:avLst/>
              <a:gdLst/>
              <a:ahLst/>
              <a:cxnLst/>
              <a:rect l="l" t="t" r="r" b="b"/>
              <a:pathLst>
                <a:path w="1402867" h="374328">
                  <a:moveTo>
                    <a:pt x="22178" y="0"/>
                  </a:moveTo>
                  <a:lnTo>
                    <a:pt x="1380689" y="0"/>
                  </a:lnTo>
                  <a:cubicBezTo>
                    <a:pt x="1386571" y="0"/>
                    <a:pt x="1392212" y="2337"/>
                    <a:pt x="1396371" y="6496"/>
                  </a:cubicBezTo>
                  <a:cubicBezTo>
                    <a:pt x="1400531" y="10655"/>
                    <a:pt x="1402867" y="16296"/>
                    <a:pt x="1402867" y="22178"/>
                  </a:cubicBezTo>
                  <a:lnTo>
                    <a:pt x="1402867" y="352150"/>
                  </a:lnTo>
                  <a:cubicBezTo>
                    <a:pt x="1402867" y="358032"/>
                    <a:pt x="1400531" y="363673"/>
                    <a:pt x="1396371" y="367832"/>
                  </a:cubicBezTo>
                  <a:cubicBezTo>
                    <a:pt x="1392212" y="371992"/>
                    <a:pt x="1386571" y="374328"/>
                    <a:pt x="1380689" y="374328"/>
                  </a:cubicBezTo>
                  <a:lnTo>
                    <a:pt x="22178" y="374328"/>
                  </a:lnTo>
                  <a:cubicBezTo>
                    <a:pt x="16296" y="374328"/>
                    <a:pt x="10655" y="371992"/>
                    <a:pt x="6496" y="367832"/>
                  </a:cubicBezTo>
                  <a:cubicBezTo>
                    <a:pt x="2337" y="363673"/>
                    <a:pt x="0" y="358032"/>
                    <a:pt x="0" y="352150"/>
                  </a:cubicBezTo>
                  <a:lnTo>
                    <a:pt x="0" y="22178"/>
                  </a:lnTo>
                  <a:cubicBezTo>
                    <a:pt x="0" y="16296"/>
                    <a:pt x="2337" y="10655"/>
                    <a:pt x="6496" y="6496"/>
                  </a:cubicBezTo>
                  <a:cubicBezTo>
                    <a:pt x="10655" y="2337"/>
                    <a:pt x="16296" y="0"/>
                    <a:pt x="22178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02867" cy="421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11416" y="3978675"/>
            <a:ext cx="582233" cy="582233"/>
          </a:xfrm>
          <a:custGeom>
            <a:avLst/>
            <a:gdLst/>
            <a:ahLst/>
            <a:cxnLst/>
            <a:rect l="l" t="t" r="r" b="b"/>
            <a:pathLst>
              <a:path w="582233" h="582233">
                <a:moveTo>
                  <a:pt x="0" y="0"/>
                </a:moveTo>
                <a:lnTo>
                  <a:pt x="582233" y="0"/>
                </a:lnTo>
                <a:lnTo>
                  <a:pt x="582233" y="582232"/>
                </a:lnTo>
                <a:lnTo>
                  <a:pt x="0" y="582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61800" y="1263390"/>
            <a:ext cx="95090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Members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61800" y="3539541"/>
            <a:ext cx="585135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Awais Asif 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UW-23-CY-BS-010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23631" y="8041988"/>
            <a:ext cx="570190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Seemab Khan 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UW-23-CY-BS-005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94276" y="5729750"/>
            <a:ext cx="574852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Rubaiqa Pervez </a:t>
            </a:r>
          </a:p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B0A0A"/>
                </a:solidFill>
                <a:latin typeface="Inter Bold"/>
                <a:ea typeface="Inter Bold"/>
                <a:cs typeface="Inter Bold"/>
                <a:sym typeface="Inter Bold"/>
              </a:rPr>
              <a:t>UW-23-CY-BS-020</a:t>
            </a:r>
          </a:p>
        </p:txBody>
      </p:sp>
      <p:sp>
        <p:nvSpPr>
          <p:cNvPr id="16" name="Freeform 16"/>
          <p:cNvSpPr/>
          <p:nvPr/>
        </p:nvSpPr>
        <p:spPr>
          <a:xfrm>
            <a:off x="558342" y="735882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67589" y="8427710"/>
            <a:ext cx="510415" cy="510415"/>
          </a:xfrm>
          <a:custGeom>
            <a:avLst/>
            <a:gdLst/>
            <a:ahLst/>
            <a:cxnLst/>
            <a:rect l="l" t="t" r="r" b="b"/>
            <a:pathLst>
              <a:path w="510415" h="510415">
                <a:moveTo>
                  <a:pt x="0" y="0"/>
                </a:moveTo>
                <a:lnTo>
                  <a:pt x="510415" y="0"/>
                </a:lnTo>
                <a:lnTo>
                  <a:pt x="510415" y="510415"/>
                </a:lnTo>
                <a:lnTo>
                  <a:pt x="0" y="510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878334" y="6187739"/>
            <a:ext cx="544522" cy="544522"/>
          </a:xfrm>
          <a:custGeom>
            <a:avLst/>
            <a:gdLst/>
            <a:ahLst/>
            <a:cxnLst/>
            <a:rect l="l" t="t" r="r" b="b"/>
            <a:pathLst>
              <a:path w="544522" h="544522">
                <a:moveTo>
                  <a:pt x="0" y="0"/>
                </a:moveTo>
                <a:lnTo>
                  <a:pt x="544522" y="0"/>
                </a:lnTo>
                <a:lnTo>
                  <a:pt x="544522" y="544522"/>
                </a:lnTo>
                <a:lnTo>
                  <a:pt x="0" y="544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5145696" flipV="1">
            <a:off x="15494927" y="-65233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5"/>
                </a:moveTo>
                <a:lnTo>
                  <a:pt x="2102741" y="2776435"/>
                </a:lnTo>
                <a:lnTo>
                  <a:pt x="2102741" y="0"/>
                </a:lnTo>
                <a:lnTo>
                  <a:pt x="0" y="0"/>
                </a:lnTo>
                <a:lnTo>
                  <a:pt x="0" y="277643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5145696">
            <a:off x="16957050" y="8673232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5"/>
                </a:lnTo>
                <a:lnTo>
                  <a:pt x="0" y="2776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-5145696" flipV="1">
            <a:off x="-575053" y="6571753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5"/>
                </a:moveTo>
                <a:lnTo>
                  <a:pt x="2102741" y="2776435"/>
                </a:lnTo>
                <a:lnTo>
                  <a:pt x="2102741" y="0"/>
                </a:lnTo>
                <a:lnTo>
                  <a:pt x="0" y="0"/>
                </a:lnTo>
                <a:lnTo>
                  <a:pt x="0" y="277643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794177" y="6187739"/>
            <a:ext cx="671252" cy="671252"/>
          </a:xfrm>
          <a:custGeom>
            <a:avLst/>
            <a:gdLst/>
            <a:ahLst/>
            <a:cxnLst/>
            <a:rect l="l" t="t" r="r" b="b"/>
            <a:pathLst>
              <a:path w="671252" h="671252">
                <a:moveTo>
                  <a:pt x="0" y="0"/>
                </a:moveTo>
                <a:lnTo>
                  <a:pt x="671252" y="0"/>
                </a:lnTo>
                <a:lnTo>
                  <a:pt x="671252" y="671252"/>
                </a:lnTo>
                <a:lnTo>
                  <a:pt x="0" y="67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22716" y="3889655"/>
            <a:ext cx="671252" cy="671252"/>
          </a:xfrm>
          <a:custGeom>
            <a:avLst/>
            <a:gdLst/>
            <a:ahLst/>
            <a:cxnLst/>
            <a:rect l="l" t="t" r="r" b="b"/>
            <a:pathLst>
              <a:path w="671252" h="671252">
                <a:moveTo>
                  <a:pt x="0" y="0"/>
                </a:moveTo>
                <a:lnTo>
                  <a:pt x="671252" y="0"/>
                </a:lnTo>
                <a:lnTo>
                  <a:pt x="671252" y="671252"/>
                </a:lnTo>
                <a:lnTo>
                  <a:pt x="0" y="67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360071" y="8436612"/>
            <a:ext cx="671252" cy="671252"/>
          </a:xfrm>
          <a:custGeom>
            <a:avLst/>
            <a:gdLst/>
            <a:ahLst/>
            <a:cxnLst/>
            <a:rect l="l" t="t" r="r" b="b"/>
            <a:pathLst>
              <a:path w="671252" h="671252">
                <a:moveTo>
                  <a:pt x="0" y="0"/>
                </a:moveTo>
                <a:lnTo>
                  <a:pt x="671252" y="0"/>
                </a:lnTo>
                <a:lnTo>
                  <a:pt x="671252" y="671252"/>
                </a:lnTo>
                <a:lnTo>
                  <a:pt x="0" y="671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0578004" y="-2030518"/>
            <a:ext cx="4202211" cy="6003158"/>
            <a:chOff x="0" y="0"/>
            <a:chExt cx="4445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10"/>
              <a:stretch>
                <a:fillRect l="-201730" r="-20173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9058" y="1665625"/>
            <a:ext cx="658023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56117" y="2730256"/>
            <a:ext cx="16739058" cy="633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scheduling is a fundamental function of an Operating System.</a:t>
            </a:r>
          </a:p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determines how CPU time is allocated among multiple processes.</a:t>
            </a:r>
          </a:p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Different scheduling algorithms directly affect:</a:t>
            </a:r>
          </a:p>
          <a:p>
            <a:pPr marL="1813544" lvl="3" indent="-453386" algn="l">
              <a:lnSpc>
                <a:spcPts val="5039"/>
              </a:lnSpc>
              <a:buFont typeface="Arial"/>
              <a:buChar char="￭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Waiting Time</a:t>
            </a:r>
          </a:p>
          <a:p>
            <a:pPr marL="1813544" lvl="3" indent="-453386" algn="l">
              <a:lnSpc>
                <a:spcPts val="5039"/>
              </a:lnSpc>
              <a:buFont typeface="Arial"/>
              <a:buChar char="￭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Turnaround Time</a:t>
            </a:r>
          </a:p>
          <a:p>
            <a:pPr marL="1813544" lvl="3" indent="-453386" algn="l">
              <a:lnSpc>
                <a:spcPts val="5039"/>
              </a:lnSpc>
              <a:buFont typeface="Arial"/>
              <a:buChar char="￭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fairness and efficiency</a:t>
            </a:r>
          </a:p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Understanding scheduling concepts through theory alone is difficult.</a:t>
            </a:r>
          </a:p>
          <a:p>
            <a:pPr marL="604515" lvl="1" indent="-302257" algn="l">
              <a:lnSpc>
                <a:spcPts val="503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project provides a GUI-based simulator to visualize and compare CPU scheduling algorithms.</a:t>
            </a:r>
          </a:p>
          <a:p>
            <a:pPr algn="l">
              <a:lnSpc>
                <a:spcPts val="5039"/>
              </a:lnSpc>
            </a:pPr>
            <a:endParaRPr lang="en-US" sz="27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28700" y="1066800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145696" flipV="1">
            <a:off x="-22670" y="818234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4"/>
                </a:moveTo>
                <a:lnTo>
                  <a:pt x="2102740" y="2776434"/>
                </a:lnTo>
                <a:lnTo>
                  <a:pt x="2102740" y="0"/>
                </a:lnTo>
                <a:lnTo>
                  <a:pt x="0" y="0"/>
                </a:lnTo>
                <a:lnTo>
                  <a:pt x="0" y="2776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145696" flipH="1" flipV="1">
            <a:off x="4750541" y="-114454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0" y="2776435"/>
                </a:moveTo>
                <a:lnTo>
                  <a:pt x="0" y="2776435"/>
                </a:lnTo>
                <a:lnTo>
                  <a:pt x="0" y="0"/>
                </a:lnTo>
                <a:lnTo>
                  <a:pt x="2102740" y="0"/>
                </a:lnTo>
                <a:lnTo>
                  <a:pt x="2102740" y="27764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43381" y="9356854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98229" y="9356854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340341" y="9356854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3351839" y="-2170076"/>
            <a:ext cx="4202211" cy="6003158"/>
            <a:chOff x="0" y="0"/>
            <a:chExt cx="4445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r="-20173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45696" flipH="1" flipV="1">
            <a:off x="-412551" y="5082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2776434"/>
                </a:moveTo>
                <a:lnTo>
                  <a:pt x="0" y="2776434"/>
                </a:lnTo>
                <a:lnTo>
                  <a:pt x="0" y="0"/>
                </a:lnTo>
                <a:lnTo>
                  <a:pt x="2102741" y="0"/>
                </a:lnTo>
                <a:lnTo>
                  <a:pt x="2102741" y="27764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145696">
            <a:off x="16593525" y="5082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0" y="0"/>
                </a:lnTo>
                <a:lnTo>
                  <a:pt x="2102740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1283" y="836165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607113" y="8147942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96159" y="1608499"/>
            <a:ext cx="970549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24652" y="2988408"/>
            <a:ext cx="16320243" cy="6572938"/>
            <a:chOff x="0" y="0"/>
            <a:chExt cx="4298441" cy="17312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98441" cy="1731233"/>
            </a:xfrm>
            <a:custGeom>
              <a:avLst/>
              <a:gdLst/>
              <a:ahLst/>
              <a:cxnLst/>
              <a:rect l="l" t="t" r="r" b="b"/>
              <a:pathLst>
                <a:path w="4298441" h="1731233">
                  <a:moveTo>
                    <a:pt x="4298441" y="16603"/>
                  </a:moveTo>
                  <a:lnTo>
                    <a:pt x="4298441" y="1714630"/>
                  </a:lnTo>
                  <a:cubicBezTo>
                    <a:pt x="4298441" y="1723799"/>
                    <a:pt x="4291007" y="1731233"/>
                    <a:pt x="4281838" y="1731233"/>
                  </a:cubicBezTo>
                  <a:lnTo>
                    <a:pt x="16603" y="1731233"/>
                  </a:lnTo>
                  <a:cubicBezTo>
                    <a:pt x="7433" y="1731233"/>
                    <a:pt x="0" y="1723799"/>
                    <a:pt x="0" y="1714630"/>
                  </a:cubicBezTo>
                  <a:lnTo>
                    <a:pt x="0" y="16603"/>
                  </a:lnTo>
                  <a:cubicBezTo>
                    <a:pt x="0" y="7433"/>
                    <a:pt x="7433" y="0"/>
                    <a:pt x="16603" y="0"/>
                  </a:cubicBezTo>
                  <a:lnTo>
                    <a:pt x="4281838" y="0"/>
                  </a:lnTo>
                  <a:cubicBezTo>
                    <a:pt x="4291007" y="0"/>
                    <a:pt x="4298441" y="7433"/>
                    <a:pt x="4298441" y="16603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298441" cy="1788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72564" y="3279428"/>
            <a:ext cx="14902779" cy="664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7" lvl="1" indent="-410214" algn="l">
              <a:lnSpc>
                <a:spcPts val="5320"/>
              </a:lnSpc>
              <a:buFont typeface="Arial"/>
              <a:buChar char="•"/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 often struggle to understand:</a:t>
            </a:r>
          </a:p>
          <a:p>
            <a:pPr marL="2461281" lvl="3" indent="-615320" algn="l">
              <a:lnSpc>
                <a:spcPts val="5320"/>
              </a:lnSpc>
              <a:buFont typeface="Arial"/>
              <a:buChar char="￭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 execution order</a:t>
            </a:r>
          </a:p>
          <a:p>
            <a:pPr marL="2461281" lvl="3" indent="-615320" algn="l">
              <a:lnSpc>
                <a:spcPts val="5320"/>
              </a:lnSpc>
              <a:buFont typeface="Arial"/>
              <a:buChar char="￭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Waiting time and turnaround time calculations</a:t>
            </a:r>
          </a:p>
          <a:p>
            <a:pPr marL="2461281" lvl="3" indent="-615320" algn="l">
              <a:lnSpc>
                <a:spcPts val="5320"/>
              </a:lnSpc>
              <a:buFont typeface="Arial"/>
              <a:buChar char="￭"/>
            </a:pPr>
            <a:r>
              <a:rPr lang="en-US" sz="3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Differences between scheduling algorithms</a:t>
            </a:r>
          </a:p>
          <a:p>
            <a:pPr algn="l">
              <a:lnSpc>
                <a:spcPts val="5320"/>
              </a:lnSpc>
            </a:pPr>
            <a:endParaRPr lang="en-US" sz="38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27" lvl="1" indent="-410214" algn="l">
              <a:lnSpc>
                <a:spcPts val="5320"/>
              </a:lnSpc>
              <a:buFont typeface="Arial"/>
              <a:buChar char="•"/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calculations are time-consuming.</a:t>
            </a:r>
          </a:p>
          <a:p>
            <a:pPr marL="820427" lvl="1" indent="-410214" algn="l">
              <a:lnSpc>
                <a:spcPts val="5320"/>
              </a:lnSpc>
              <a:buFont typeface="Arial"/>
              <a:buChar char="•"/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interactive tools for learning CPU scheduling.</a:t>
            </a:r>
          </a:p>
          <a:p>
            <a:pPr marL="820427" lvl="1" indent="-410214" algn="l">
              <a:lnSpc>
                <a:spcPts val="5320"/>
              </a:lnSpc>
              <a:buFont typeface="Arial"/>
              <a:buChar char="•"/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is a need for a simple, interactive, and visual simulator for CPU scheduling algorithms.</a:t>
            </a:r>
          </a:p>
          <a:p>
            <a:pPr algn="l">
              <a:lnSpc>
                <a:spcPts val="5320"/>
              </a:lnSpc>
            </a:pPr>
            <a:endParaRPr lang="en-US" sz="38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2267253" y="-3413024"/>
            <a:ext cx="4202211" cy="6003158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3622" y="241673"/>
            <a:ext cx="5165060" cy="3320405"/>
            <a:chOff x="0" y="0"/>
            <a:chExt cx="1923535" cy="12365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3535" cy="1236561"/>
            </a:xfrm>
            <a:custGeom>
              <a:avLst/>
              <a:gdLst/>
              <a:ahLst/>
              <a:cxnLst/>
              <a:rect l="l" t="t" r="r" b="b"/>
              <a:pathLst>
                <a:path w="1923535" h="1236561">
                  <a:moveTo>
                    <a:pt x="22484" y="0"/>
                  </a:moveTo>
                  <a:lnTo>
                    <a:pt x="1901051" y="0"/>
                  </a:lnTo>
                  <a:cubicBezTo>
                    <a:pt x="1913468" y="0"/>
                    <a:pt x="1923535" y="10066"/>
                    <a:pt x="1923535" y="22484"/>
                  </a:cubicBezTo>
                  <a:lnTo>
                    <a:pt x="1923535" y="1214078"/>
                  </a:lnTo>
                  <a:cubicBezTo>
                    <a:pt x="1923535" y="1226495"/>
                    <a:pt x="1913468" y="1236561"/>
                    <a:pt x="1901051" y="1236561"/>
                  </a:cubicBezTo>
                  <a:lnTo>
                    <a:pt x="22484" y="1236561"/>
                  </a:lnTo>
                  <a:cubicBezTo>
                    <a:pt x="10066" y="1236561"/>
                    <a:pt x="0" y="1226495"/>
                    <a:pt x="0" y="1214078"/>
                  </a:cubicBezTo>
                  <a:lnTo>
                    <a:pt x="0" y="22484"/>
                  </a:lnTo>
                  <a:cubicBezTo>
                    <a:pt x="0" y="10066"/>
                    <a:pt x="10066" y="0"/>
                    <a:pt x="22484" y="0"/>
                  </a:cubicBezTo>
                  <a:close/>
                </a:path>
              </a:pathLst>
            </a:custGeom>
            <a:blipFill>
              <a:blip r:embed="rId2"/>
              <a:stretch>
                <a:fillRect l="-7143" r="-714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145696" flipH="1">
            <a:off x="15517739" y="-93283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588570" flipH="1" flipV="1">
            <a:off x="-516272" y="8557569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2776434"/>
                </a:moveTo>
                <a:lnTo>
                  <a:pt x="0" y="2776434"/>
                </a:lnTo>
                <a:lnTo>
                  <a:pt x="0" y="0"/>
                </a:lnTo>
                <a:lnTo>
                  <a:pt x="2102741" y="0"/>
                </a:lnTo>
                <a:lnTo>
                  <a:pt x="2102741" y="277643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910307" y="601283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97176" y="5265528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41074" y="3749497"/>
            <a:ext cx="13135802" cy="62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 a GUI-based CPU Scheduling Simulator.</a:t>
            </a:r>
          </a:p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 major CPU scheduling algorithms: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FCFS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SJF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Round Robin</a:t>
            </a:r>
          </a:p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Allow users to dynamically enter process data.</a:t>
            </a:r>
          </a:p>
          <a:p>
            <a:pPr algn="l">
              <a:lnSpc>
                <a:spcPts val="7199"/>
              </a:lnSpc>
            </a:pPr>
            <a:endParaRPr lang="en-US" sz="39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910307" y="1606475"/>
            <a:ext cx="8196679" cy="1478673"/>
            <a:chOff x="0" y="0"/>
            <a:chExt cx="2158849" cy="3894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8849" cy="389465"/>
            </a:xfrm>
            <a:custGeom>
              <a:avLst/>
              <a:gdLst/>
              <a:ahLst/>
              <a:cxnLst/>
              <a:rect l="l" t="t" r="r" b="b"/>
              <a:pathLst>
                <a:path w="2158849" h="389465">
                  <a:moveTo>
                    <a:pt x="2158849" y="33058"/>
                  </a:moveTo>
                  <a:lnTo>
                    <a:pt x="2158849" y="356406"/>
                  </a:lnTo>
                  <a:cubicBezTo>
                    <a:pt x="2158849" y="365174"/>
                    <a:pt x="2155366" y="373583"/>
                    <a:pt x="2149166" y="379782"/>
                  </a:cubicBezTo>
                  <a:cubicBezTo>
                    <a:pt x="2142967" y="385982"/>
                    <a:pt x="2134558" y="389465"/>
                    <a:pt x="2125791" y="389465"/>
                  </a:cubicBezTo>
                  <a:lnTo>
                    <a:pt x="33058" y="389465"/>
                  </a:lnTo>
                  <a:cubicBezTo>
                    <a:pt x="24291" y="389465"/>
                    <a:pt x="15882" y="385982"/>
                    <a:pt x="9683" y="379782"/>
                  </a:cubicBezTo>
                  <a:cubicBezTo>
                    <a:pt x="3483" y="373583"/>
                    <a:pt x="0" y="365174"/>
                    <a:pt x="0" y="356406"/>
                  </a:cubicBezTo>
                  <a:lnTo>
                    <a:pt x="0" y="33058"/>
                  </a:lnTo>
                  <a:cubicBezTo>
                    <a:pt x="0" y="14801"/>
                    <a:pt x="14801" y="0"/>
                    <a:pt x="33058" y="0"/>
                  </a:cubicBezTo>
                  <a:lnTo>
                    <a:pt x="2125791" y="0"/>
                  </a:lnTo>
                  <a:cubicBezTo>
                    <a:pt x="2144048" y="0"/>
                    <a:pt x="2158849" y="14801"/>
                    <a:pt x="2158849" y="33058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58849" cy="446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47377" y="1797101"/>
            <a:ext cx="8950571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 of Project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122663" y="-4629074"/>
            <a:ext cx="4202211" cy="6003158"/>
            <a:chOff x="0" y="0"/>
            <a:chExt cx="4445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01730" r="-20173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45696" flipH="1">
            <a:off x="15517739" y="-93283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588570" flipH="1" flipV="1">
            <a:off x="-516272" y="8557569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2776434"/>
                </a:moveTo>
                <a:lnTo>
                  <a:pt x="0" y="2776434"/>
                </a:lnTo>
                <a:lnTo>
                  <a:pt x="0" y="0"/>
                </a:lnTo>
                <a:lnTo>
                  <a:pt x="2102741" y="0"/>
                </a:lnTo>
                <a:lnTo>
                  <a:pt x="2102741" y="27764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10307" y="601283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97176" y="5265528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71184" y="2782986"/>
            <a:ext cx="13135802" cy="716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Calculate: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Waiting Time (WT)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Turnaround Time (TAT)</a:t>
            </a:r>
          </a:p>
          <a:p>
            <a:pPr marL="2590798" lvl="3" indent="-647700" algn="l">
              <a:lnSpc>
                <a:spcPts val="7199"/>
              </a:lnSpc>
              <a:buFont typeface="Arial"/>
              <a:buChar char="￭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WT and Average TAT</a:t>
            </a:r>
          </a:p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Display execution order using a Gantt Chart.</a:t>
            </a:r>
          </a:p>
          <a:p>
            <a:pPr marL="863599" lvl="1" indent="-431800" algn="l">
              <a:lnSpc>
                <a:spcPts val="71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Help students easily compare scheduling algorithms.</a:t>
            </a:r>
          </a:p>
          <a:p>
            <a:pPr algn="l">
              <a:lnSpc>
                <a:spcPts val="7199"/>
              </a:lnSpc>
            </a:pPr>
            <a:endParaRPr lang="en-US" sz="39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3886614" y="1028700"/>
            <a:ext cx="8196679" cy="1478673"/>
            <a:chOff x="0" y="0"/>
            <a:chExt cx="2158849" cy="3894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8849" cy="389465"/>
            </a:xfrm>
            <a:custGeom>
              <a:avLst/>
              <a:gdLst/>
              <a:ahLst/>
              <a:cxnLst/>
              <a:rect l="l" t="t" r="r" b="b"/>
              <a:pathLst>
                <a:path w="2158849" h="389465">
                  <a:moveTo>
                    <a:pt x="2158849" y="33058"/>
                  </a:moveTo>
                  <a:lnTo>
                    <a:pt x="2158849" y="356406"/>
                  </a:lnTo>
                  <a:cubicBezTo>
                    <a:pt x="2158849" y="365174"/>
                    <a:pt x="2155366" y="373583"/>
                    <a:pt x="2149166" y="379782"/>
                  </a:cubicBezTo>
                  <a:cubicBezTo>
                    <a:pt x="2142967" y="385982"/>
                    <a:pt x="2134558" y="389465"/>
                    <a:pt x="2125791" y="389465"/>
                  </a:cubicBezTo>
                  <a:lnTo>
                    <a:pt x="33058" y="389465"/>
                  </a:lnTo>
                  <a:cubicBezTo>
                    <a:pt x="24291" y="389465"/>
                    <a:pt x="15882" y="385982"/>
                    <a:pt x="9683" y="379782"/>
                  </a:cubicBezTo>
                  <a:cubicBezTo>
                    <a:pt x="3483" y="373583"/>
                    <a:pt x="0" y="365174"/>
                    <a:pt x="0" y="356406"/>
                  </a:cubicBezTo>
                  <a:lnTo>
                    <a:pt x="0" y="33058"/>
                  </a:lnTo>
                  <a:cubicBezTo>
                    <a:pt x="0" y="14801"/>
                    <a:pt x="14801" y="0"/>
                    <a:pt x="33058" y="0"/>
                  </a:cubicBezTo>
                  <a:lnTo>
                    <a:pt x="2125791" y="0"/>
                  </a:lnTo>
                  <a:cubicBezTo>
                    <a:pt x="2144048" y="0"/>
                    <a:pt x="2158849" y="14801"/>
                    <a:pt x="2158849" y="33058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58849" cy="446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623684" y="1219326"/>
            <a:ext cx="8950571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 ...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267253" y="-3413024"/>
            <a:ext cx="4202211" cy="6003158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498" y="1736954"/>
            <a:ext cx="8302888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9"/>
              </a:lnSpc>
            </a:pPr>
            <a:r>
              <a:rPr lang="en-US" sz="7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Scope </a:t>
            </a:r>
          </a:p>
        </p:txBody>
      </p:sp>
      <p:sp>
        <p:nvSpPr>
          <p:cNvPr id="3" name="Freeform 3"/>
          <p:cNvSpPr/>
          <p:nvPr/>
        </p:nvSpPr>
        <p:spPr>
          <a:xfrm>
            <a:off x="897319" y="793521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825506" flipH="1">
            <a:off x="1671476" y="-104949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825506">
            <a:off x="14894013" y="816091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40302" y="6585537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40302" y="514350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310488" y="517361"/>
            <a:ext cx="6714582" cy="2685833"/>
            <a:chOff x="0" y="0"/>
            <a:chExt cx="6350000" cy="254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blipFill>
              <a:blip r:embed="rId8"/>
              <a:stretch>
                <a:fillRect t="-41515" b="-2484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5969000" y="19050"/>
                  </a:moveTo>
                  <a:cubicBezTo>
                    <a:pt x="6168390" y="19050"/>
                    <a:pt x="6330950" y="181610"/>
                    <a:pt x="6330950" y="381000"/>
                  </a:cubicBezTo>
                  <a:lnTo>
                    <a:pt x="6330950" y="2159000"/>
                  </a:lnTo>
                  <a:cubicBezTo>
                    <a:pt x="6330950" y="2358390"/>
                    <a:pt x="6168390" y="2520950"/>
                    <a:pt x="5969000" y="2520950"/>
                  </a:cubicBezTo>
                  <a:lnTo>
                    <a:pt x="381000" y="2520950"/>
                  </a:lnTo>
                  <a:cubicBezTo>
                    <a:pt x="181610" y="2520950"/>
                    <a:pt x="19050" y="2358390"/>
                    <a:pt x="19050" y="2159000"/>
                  </a:cubicBezTo>
                  <a:lnTo>
                    <a:pt x="19050" y="381000"/>
                  </a:lnTo>
                  <a:cubicBezTo>
                    <a:pt x="19050" y="181610"/>
                    <a:pt x="181610" y="19050"/>
                    <a:pt x="381000" y="19050"/>
                  </a:cubicBezTo>
                  <a:lnTo>
                    <a:pt x="5969000" y="19050"/>
                  </a:lnTo>
                  <a:moveTo>
                    <a:pt x="5969000" y="0"/>
                  </a:moveTo>
                  <a:lnTo>
                    <a:pt x="381000" y="0"/>
                  </a:lnTo>
                  <a:cubicBezTo>
                    <a:pt x="170180" y="0"/>
                    <a:pt x="0" y="170180"/>
                    <a:pt x="0" y="381000"/>
                  </a:cubicBezTo>
                  <a:lnTo>
                    <a:pt x="0" y="2159000"/>
                  </a:lnTo>
                  <a:cubicBezTo>
                    <a:pt x="0" y="2369820"/>
                    <a:pt x="170180" y="2540000"/>
                    <a:pt x="381000" y="2540000"/>
                  </a:cubicBezTo>
                  <a:lnTo>
                    <a:pt x="5969000" y="2540000"/>
                  </a:lnTo>
                  <a:cubicBezTo>
                    <a:pt x="6179820" y="2540000"/>
                    <a:pt x="6350000" y="2369820"/>
                    <a:pt x="6350000" y="2159000"/>
                  </a:cubicBezTo>
                  <a:lnTo>
                    <a:pt x="6350000" y="381000"/>
                  </a:lnTo>
                  <a:cubicBezTo>
                    <a:pt x="6350000" y="170180"/>
                    <a:pt x="6179820" y="0"/>
                    <a:pt x="5969000" y="0"/>
                  </a:cubicBezTo>
                  <a:lnTo>
                    <a:pt x="5969000" y="0"/>
                  </a:lnTo>
                  <a:close/>
                </a:path>
              </a:pathLst>
            </a:custGeom>
            <a:solidFill>
              <a:srgbClr val="051D4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32498" y="3012694"/>
            <a:ext cx="12177896" cy="646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Development of a user-friendly GUI using Python.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Simulation of CPU scheduling algorithms.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Input of:</a:t>
            </a:r>
          </a:p>
          <a:p>
            <a:pPr marL="2072617" lvl="3" indent="-518154" algn="l">
              <a:lnSpc>
                <a:spcPts val="5759"/>
              </a:lnSpc>
              <a:buFont typeface="Arial"/>
              <a:buChar char="￭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Process ID</a:t>
            </a:r>
          </a:p>
          <a:p>
            <a:pPr marL="2072617" lvl="3" indent="-518154" algn="l">
              <a:lnSpc>
                <a:spcPts val="5759"/>
              </a:lnSpc>
              <a:buFont typeface="Arial"/>
              <a:buChar char="￭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Arrival Time</a:t>
            </a:r>
          </a:p>
          <a:p>
            <a:pPr marL="2072617" lvl="3" indent="-518154" algn="l">
              <a:lnSpc>
                <a:spcPts val="5759"/>
              </a:lnSpc>
              <a:buFont typeface="Arial"/>
              <a:buChar char="￭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Burst Time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Time Quantum (for Round Robin)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Visualization of CPU execution using Gantt Charts.</a:t>
            </a:r>
          </a:p>
          <a:p>
            <a:pPr algn="l">
              <a:lnSpc>
                <a:spcPts val="5759"/>
              </a:lnSpc>
            </a:pPr>
            <a:endParaRPr lang="en-US" sz="3199" b="1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238091" y="-5485797"/>
            <a:ext cx="4202211" cy="6003158"/>
            <a:chOff x="0" y="0"/>
            <a:chExt cx="4445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9"/>
              <a:stretch>
                <a:fillRect l="-201730" r="-20173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0240" y="799976"/>
            <a:ext cx="12182855" cy="15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CPU Scheduling Algorithms Implemented</a:t>
            </a:r>
          </a:p>
        </p:txBody>
      </p:sp>
      <p:sp>
        <p:nvSpPr>
          <p:cNvPr id="3" name="Freeform 3"/>
          <p:cNvSpPr/>
          <p:nvPr/>
        </p:nvSpPr>
        <p:spPr>
          <a:xfrm>
            <a:off x="426961" y="0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825506" flipH="1">
            <a:off x="1671476" y="-1763871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825506">
            <a:off x="15800971" y="8898783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057089" y="-4142881"/>
            <a:ext cx="4202211" cy="6003158"/>
            <a:chOff x="0" y="0"/>
            <a:chExt cx="4445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r="-20173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26961" y="2652271"/>
            <a:ext cx="8476745" cy="3094153"/>
            <a:chOff x="0" y="0"/>
            <a:chExt cx="2150891" cy="7851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0891" cy="785132"/>
            </a:xfrm>
            <a:custGeom>
              <a:avLst/>
              <a:gdLst/>
              <a:ahLst/>
              <a:cxnLst/>
              <a:rect l="l" t="t" r="r" b="b"/>
              <a:pathLst>
                <a:path w="2150891" h="785132">
                  <a:moveTo>
                    <a:pt x="2150891" y="31966"/>
                  </a:moveTo>
                  <a:lnTo>
                    <a:pt x="2150891" y="753166"/>
                  </a:lnTo>
                  <a:cubicBezTo>
                    <a:pt x="2150891" y="761644"/>
                    <a:pt x="2147523" y="769774"/>
                    <a:pt x="2141528" y="775769"/>
                  </a:cubicBezTo>
                  <a:cubicBezTo>
                    <a:pt x="2135533" y="781764"/>
                    <a:pt x="2127403" y="785132"/>
                    <a:pt x="2118925" y="785132"/>
                  </a:cubicBezTo>
                  <a:lnTo>
                    <a:pt x="31966" y="785132"/>
                  </a:lnTo>
                  <a:cubicBezTo>
                    <a:pt x="23488" y="785132"/>
                    <a:pt x="15357" y="781764"/>
                    <a:pt x="9363" y="775769"/>
                  </a:cubicBezTo>
                  <a:cubicBezTo>
                    <a:pt x="3368" y="769774"/>
                    <a:pt x="0" y="761644"/>
                    <a:pt x="0" y="753166"/>
                  </a:cubicBezTo>
                  <a:lnTo>
                    <a:pt x="0" y="31966"/>
                  </a:lnTo>
                  <a:cubicBezTo>
                    <a:pt x="0" y="23488"/>
                    <a:pt x="3368" y="15357"/>
                    <a:pt x="9363" y="9363"/>
                  </a:cubicBezTo>
                  <a:cubicBezTo>
                    <a:pt x="15357" y="3368"/>
                    <a:pt x="23488" y="0"/>
                    <a:pt x="31966" y="0"/>
                  </a:cubicBezTo>
                  <a:lnTo>
                    <a:pt x="2118925" y="0"/>
                  </a:lnTo>
                  <a:cubicBezTo>
                    <a:pt x="2127403" y="0"/>
                    <a:pt x="2135533" y="3368"/>
                    <a:pt x="2141528" y="9363"/>
                  </a:cubicBezTo>
                  <a:cubicBezTo>
                    <a:pt x="2147523" y="15357"/>
                    <a:pt x="2150891" y="23488"/>
                    <a:pt x="2150891" y="31966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50891" cy="842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91057" y="2615874"/>
            <a:ext cx="8263533" cy="31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Come First Serve (FCFS)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123337"/>
                </a:solidFill>
                <a:latin typeface="Canva Sans"/>
                <a:ea typeface="Canva Sans"/>
                <a:cs typeface="Canva Sans"/>
                <a:sym typeface="Canva Sans"/>
              </a:rPr>
              <a:t>Processes execute in arrival order.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123337"/>
                </a:solidFill>
                <a:latin typeface="Canva Sans"/>
                <a:ea typeface="Canva Sans"/>
                <a:cs typeface="Canva Sans"/>
                <a:sym typeface="Canva Sans"/>
              </a:rPr>
              <a:t>Simple to implement.</a:t>
            </a:r>
          </a:p>
          <a:p>
            <a:pPr marL="777238" lvl="1" indent="-388619" algn="just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123337"/>
                </a:solidFill>
                <a:latin typeface="Canva Sans"/>
                <a:ea typeface="Canva Sans"/>
                <a:cs typeface="Canva Sans"/>
                <a:sym typeface="Canva Sans"/>
              </a:rPr>
              <a:t>May cause long waiting times</a:t>
            </a:r>
          </a:p>
          <a:p>
            <a:pPr algn="just">
              <a:lnSpc>
                <a:spcPts val="4759"/>
              </a:lnSpc>
            </a:pPr>
            <a:endParaRPr lang="en-US" sz="3599" dirty="0">
              <a:solidFill>
                <a:srgbClr val="12333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451260" y="2652271"/>
            <a:ext cx="8836740" cy="3094153"/>
            <a:chOff x="0" y="0"/>
            <a:chExt cx="2242236" cy="7851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2236" cy="785132"/>
            </a:xfrm>
            <a:custGeom>
              <a:avLst/>
              <a:gdLst/>
              <a:ahLst/>
              <a:cxnLst/>
              <a:rect l="l" t="t" r="r" b="b"/>
              <a:pathLst>
                <a:path w="2242236" h="785132">
                  <a:moveTo>
                    <a:pt x="2242236" y="30664"/>
                  </a:moveTo>
                  <a:lnTo>
                    <a:pt x="2242236" y="754468"/>
                  </a:lnTo>
                  <a:cubicBezTo>
                    <a:pt x="2242236" y="762601"/>
                    <a:pt x="2239006" y="770400"/>
                    <a:pt x="2233255" y="776151"/>
                  </a:cubicBezTo>
                  <a:cubicBezTo>
                    <a:pt x="2227505" y="781901"/>
                    <a:pt x="2219705" y="785132"/>
                    <a:pt x="2211573" y="785132"/>
                  </a:cubicBezTo>
                  <a:lnTo>
                    <a:pt x="30664" y="785132"/>
                  </a:lnTo>
                  <a:cubicBezTo>
                    <a:pt x="13729" y="785132"/>
                    <a:pt x="0" y="771403"/>
                    <a:pt x="0" y="754468"/>
                  </a:cubicBezTo>
                  <a:lnTo>
                    <a:pt x="0" y="30664"/>
                  </a:lnTo>
                  <a:cubicBezTo>
                    <a:pt x="0" y="13729"/>
                    <a:pt x="13729" y="0"/>
                    <a:pt x="30664" y="0"/>
                  </a:cubicBezTo>
                  <a:lnTo>
                    <a:pt x="2211573" y="0"/>
                  </a:lnTo>
                  <a:cubicBezTo>
                    <a:pt x="2228508" y="0"/>
                    <a:pt x="2242236" y="13729"/>
                    <a:pt x="2242236" y="30664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242236" cy="842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451260" y="2765734"/>
            <a:ext cx="873660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Round Robin (RR)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process gets fixed time quantum.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Ensures fairness.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Suitable for time-sharing systems.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3397161" y="6252712"/>
            <a:ext cx="11006425" cy="3324216"/>
            <a:chOff x="0" y="0"/>
            <a:chExt cx="2792773" cy="8435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92773" cy="843510"/>
            </a:xfrm>
            <a:custGeom>
              <a:avLst/>
              <a:gdLst/>
              <a:ahLst/>
              <a:cxnLst/>
              <a:rect l="l" t="t" r="r" b="b"/>
              <a:pathLst>
                <a:path w="2792773" h="843510">
                  <a:moveTo>
                    <a:pt x="2792773" y="24619"/>
                  </a:moveTo>
                  <a:lnTo>
                    <a:pt x="2792773" y="818891"/>
                  </a:lnTo>
                  <a:cubicBezTo>
                    <a:pt x="2792773" y="832488"/>
                    <a:pt x="2781750" y="843510"/>
                    <a:pt x="2768154" y="843510"/>
                  </a:cubicBezTo>
                  <a:lnTo>
                    <a:pt x="24619" y="843510"/>
                  </a:lnTo>
                  <a:cubicBezTo>
                    <a:pt x="11022" y="843510"/>
                    <a:pt x="0" y="832488"/>
                    <a:pt x="0" y="818891"/>
                  </a:cubicBezTo>
                  <a:lnTo>
                    <a:pt x="0" y="24619"/>
                  </a:lnTo>
                  <a:cubicBezTo>
                    <a:pt x="0" y="11022"/>
                    <a:pt x="11022" y="0"/>
                    <a:pt x="24619" y="0"/>
                  </a:cubicBezTo>
                  <a:lnTo>
                    <a:pt x="2768154" y="0"/>
                  </a:lnTo>
                  <a:cubicBezTo>
                    <a:pt x="2781750" y="0"/>
                    <a:pt x="2792773" y="11022"/>
                    <a:pt x="2792773" y="24619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792773" cy="9006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42082" y="6452737"/>
            <a:ext cx="10519172" cy="298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Shortest Job First (SJF)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 with smallest burst time executes first.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Reduces average waiting time.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Non-preemptive version implemented.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7319" y="793521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825506" flipH="1">
            <a:off x="1671476" y="-104949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825506">
            <a:off x="14894013" y="816091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40302" y="6585537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40302" y="514350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49158" y="2897456"/>
            <a:ext cx="13591144" cy="718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system follows a modular design approach: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Input Module</a:t>
            </a:r>
          </a:p>
          <a:p>
            <a:pPr marL="1381745" lvl="2" indent="-460582" algn="l">
              <a:lnSpc>
                <a:spcPts val="575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Takes process count and process details.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Algorithm Module</a:t>
            </a:r>
          </a:p>
          <a:p>
            <a:pPr marL="1381745" lvl="2" indent="-460582" algn="l">
              <a:lnSpc>
                <a:spcPts val="575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Implements FCFS, SJF, and Round Robin logic.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Calculation Module</a:t>
            </a:r>
          </a:p>
          <a:p>
            <a:pPr marL="1381745" lvl="2" indent="-460582" algn="l">
              <a:lnSpc>
                <a:spcPts val="575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Computes WT, TAT, and averages.</a:t>
            </a:r>
          </a:p>
          <a:p>
            <a:pPr marL="690872" lvl="1" indent="-345436" algn="l">
              <a:lnSpc>
                <a:spcPts val="5759"/>
              </a:lnSpc>
              <a:buFont typeface="Arial"/>
              <a:buChar char="•"/>
            </a:pPr>
            <a:r>
              <a:rPr lang="en-US" sz="31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Output Module</a:t>
            </a:r>
          </a:p>
          <a:p>
            <a:pPr marL="1381745" lvl="2" indent="-460582" algn="l">
              <a:lnSpc>
                <a:spcPts val="5759"/>
              </a:lnSpc>
              <a:buFont typeface="Arial"/>
              <a:buChar char="⚬"/>
            </a:pPr>
            <a:r>
              <a:rPr lang="en-US" sz="3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Displays results and Gantt chart in GUI.</a:t>
            </a:r>
          </a:p>
          <a:p>
            <a:pPr algn="l">
              <a:lnSpc>
                <a:spcPts val="5759"/>
              </a:lnSpc>
            </a:pPr>
            <a:endParaRPr lang="en-US" sz="31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057089" y="-3819139"/>
            <a:ext cx="4202211" cy="6003158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26487" y="1028700"/>
            <a:ext cx="8952602" cy="1478673"/>
            <a:chOff x="0" y="0"/>
            <a:chExt cx="2357945" cy="3894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57945" cy="389465"/>
            </a:xfrm>
            <a:custGeom>
              <a:avLst/>
              <a:gdLst/>
              <a:ahLst/>
              <a:cxnLst/>
              <a:rect l="l" t="t" r="r" b="b"/>
              <a:pathLst>
                <a:path w="2357945" h="389465">
                  <a:moveTo>
                    <a:pt x="2357945" y="30267"/>
                  </a:moveTo>
                  <a:lnTo>
                    <a:pt x="2357945" y="359198"/>
                  </a:lnTo>
                  <a:cubicBezTo>
                    <a:pt x="2357945" y="367225"/>
                    <a:pt x="2354756" y="374924"/>
                    <a:pt x="2349080" y="380600"/>
                  </a:cubicBezTo>
                  <a:cubicBezTo>
                    <a:pt x="2343404" y="386276"/>
                    <a:pt x="2335705" y="389465"/>
                    <a:pt x="2327678" y="389465"/>
                  </a:cubicBezTo>
                  <a:lnTo>
                    <a:pt x="30267" y="389465"/>
                  </a:lnTo>
                  <a:cubicBezTo>
                    <a:pt x="22240" y="389465"/>
                    <a:pt x="14541" y="386276"/>
                    <a:pt x="8865" y="380600"/>
                  </a:cubicBezTo>
                  <a:cubicBezTo>
                    <a:pt x="3189" y="374924"/>
                    <a:pt x="0" y="367225"/>
                    <a:pt x="0" y="359198"/>
                  </a:cubicBezTo>
                  <a:lnTo>
                    <a:pt x="0" y="30267"/>
                  </a:lnTo>
                  <a:cubicBezTo>
                    <a:pt x="0" y="22240"/>
                    <a:pt x="3189" y="14541"/>
                    <a:pt x="8865" y="8865"/>
                  </a:cubicBezTo>
                  <a:cubicBezTo>
                    <a:pt x="14541" y="3189"/>
                    <a:pt x="22240" y="0"/>
                    <a:pt x="30267" y="0"/>
                  </a:cubicBezTo>
                  <a:lnTo>
                    <a:pt x="2327678" y="0"/>
                  </a:lnTo>
                  <a:cubicBezTo>
                    <a:pt x="2335705" y="0"/>
                    <a:pt x="2343404" y="3189"/>
                    <a:pt x="2349080" y="8865"/>
                  </a:cubicBezTo>
                  <a:cubicBezTo>
                    <a:pt x="2354756" y="14541"/>
                    <a:pt x="2357945" y="22240"/>
                    <a:pt x="2357945" y="30267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57945" cy="446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886614" y="1276864"/>
            <a:ext cx="907330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Design Overview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1585" y="2199922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155733">
            <a:off x="15457351" y="811951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5"/>
                </a:lnTo>
                <a:lnTo>
                  <a:pt x="0" y="2776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358982" flipV="1">
            <a:off x="-676635" y="-22925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4"/>
                </a:moveTo>
                <a:lnTo>
                  <a:pt x="2102741" y="2776434"/>
                </a:lnTo>
                <a:lnTo>
                  <a:pt x="2102741" y="0"/>
                </a:lnTo>
                <a:lnTo>
                  <a:pt x="0" y="0"/>
                </a:lnTo>
                <a:lnTo>
                  <a:pt x="0" y="2776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81304" y="1600448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9044592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09914" y="945254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7708591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77047" y="1158963"/>
            <a:ext cx="14119823" cy="8313046"/>
          </a:xfrm>
          <a:custGeom>
            <a:avLst/>
            <a:gdLst/>
            <a:ahLst/>
            <a:cxnLst/>
            <a:rect l="l" t="t" r="r" b="b"/>
            <a:pathLst>
              <a:path w="14119823" h="8313046">
                <a:moveTo>
                  <a:pt x="0" y="0"/>
                </a:moveTo>
                <a:lnTo>
                  <a:pt x="14119823" y="0"/>
                </a:lnTo>
                <a:lnTo>
                  <a:pt x="14119823" y="8313045"/>
                </a:lnTo>
                <a:lnTo>
                  <a:pt x="0" y="83130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7319" y="793521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825506" flipH="1">
            <a:off x="1671476" y="-1141737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825506">
            <a:off x="14894013" y="816091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40302" y="6585537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40302" y="514350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76575" y="3154631"/>
            <a:ext cx="13591144" cy="664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0" lvl="1" indent="-399410" algn="l">
              <a:lnSpc>
                <a:spcPts val="6659"/>
              </a:lnSpc>
              <a:buFont typeface="Arial"/>
              <a:buChar char="•"/>
            </a:pPr>
            <a:r>
              <a:rPr lang="en-US" sz="36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Programming Language: </a:t>
            </a: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</a:p>
          <a:p>
            <a:pPr marL="798820" lvl="1" indent="-399410" algn="l">
              <a:lnSpc>
                <a:spcPts val="6659"/>
              </a:lnSpc>
              <a:buFont typeface="Arial"/>
              <a:buChar char="•"/>
            </a:pPr>
            <a:r>
              <a:rPr lang="en-US" sz="36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GUI Library: </a:t>
            </a: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Tkinter</a:t>
            </a:r>
          </a:p>
          <a:p>
            <a:pPr marL="798820" lvl="1" indent="-399410" algn="l">
              <a:lnSpc>
                <a:spcPts val="6659"/>
              </a:lnSpc>
              <a:buFont typeface="Arial"/>
              <a:buChar char="•"/>
            </a:pPr>
            <a:r>
              <a:rPr lang="en-US" sz="36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IDE: </a:t>
            </a: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VS Code</a:t>
            </a:r>
            <a:r>
              <a:rPr lang="en-US" sz="36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  <a:p>
            <a:pPr marL="798820" lvl="1" indent="-399410" algn="l">
              <a:lnSpc>
                <a:spcPts val="6659"/>
              </a:lnSpc>
              <a:buFont typeface="Arial"/>
              <a:buChar char="•"/>
            </a:pPr>
            <a:r>
              <a:rPr lang="en-US" sz="36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Concepts Used:</a:t>
            </a:r>
          </a:p>
          <a:p>
            <a:pPr marL="2396459" lvl="3" indent="-599115" algn="l">
              <a:lnSpc>
                <a:spcPts val="6659"/>
              </a:lnSpc>
              <a:buFont typeface="Arial"/>
              <a:buChar char="￭"/>
            </a:pP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CPU Scheduling</a:t>
            </a:r>
          </a:p>
          <a:p>
            <a:pPr marL="2396459" lvl="3" indent="-599115" algn="l">
              <a:lnSpc>
                <a:spcPts val="6659"/>
              </a:lnSpc>
              <a:buFont typeface="Arial"/>
              <a:buChar char="￭"/>
            </a:pP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Management</a:t>
            </a:r>
          </a:p>
          <a:p>
            <a:pPr marL="2396459" lvl="3" indent="-599115" algn="l">
              <a:lnSpc>
                <a:spcPts val="6659"/>
              </a:lnSpc>
              <a:buFont typeface="Arial"/>
              <a:buChar char="￭"/>
            </a:pPr>
            <a:r>
              <a:rPr lang="en-US" sz="3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Gantt Chart Visualization</a:t>
            </a:r>
          </a:p>
          <a:p>
            <a:pPr algn="l">
              <a:lnSpc>
                <a:spcPts val="6659"/>
              </a:lnSpc>
            </a:pPr>
            <a:endParaRPr lang="en-US" sz="36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057089" y="-3819139"/>
            <a:ext cx="4202211" cy="6003158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r="-2017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67677" y="1263879"/>
            <a:ext cx="9952038" cy="1478673"/>
            <a:chOff x="0" y="0"/>
            <a:chExt cx="2621177" cy="3894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21177" cy="389465"/>
            </a:xfrm>
            <a:custGeom>
              <a:avLst/>
              <a:gdLst/>
              <a:ahLst/>
              <a:cxnLst/>
              <a:rect l="l" t="t" r="r" b="b"/>
              <a:pathLst>
                <a:path w="2621177" h="389465">
                  <a:moveTo>
                    <a:pt x="2621177" y="27227"/>
                  </a:moveTo>
                  <a:lnTo>
                    <a:pt x="2621177" y="362237"/>
                  </a:lnTo>
                  <a:cubicBezTo>
                    <a:pt x="2621177" y="377275"/>
                    <a:pt x="2608987" y="389465"/>
                    <a:pt x="2593950" y="389465"/>
                  </a:cubicBezTo>
                  <a:lnTo>
                    <a:pt x="27227" y="389465"/>
                  </a:lnTo>
                  <a:cubicBezTo>
                    <a:pt x="20006" y="389465"/>
                    <a:pt x="13081" y="386596"/>
                    <a:pt x="7975" y="381490"/>
                  </a:cubicBezTo>
                  <a:cubicBezTo>
                    <a:pt x="2869" y="376384"/>
                    <a:pt x="0" y="369458"/>
                    <a:pt x="0" y="362237"/>
                  </a:cubicBezTo>
                  <a:lnTo>
                    <a:pt x="0" y="27227"/>
                  </a:lnTo>
                  <a:cubicBezTo>
                    <a:pt x="0" y="12190"/>
                    <a:pt x="12190" y="0"/>
                    <a:pt x="27227" y="0"/>
                  </a:cubicBezTo>
                  <a:lnTo>
                    <a:pt x="2593950" y="0"/>
                  </a:lnTo>
                  <a:cubicBezTo>
                    <a:pt x="2601171" y="0"/>
                    <a:pt x="2608096" y="2869"/>
                    <a:pt x="2613203" y="7975"/>
                  </a:cubicBezTo>
                  <a:cubicBezTo>
                    <a:pt x="2618309" y="13081"/>
                    <a:pt x="2621177" y="20006"/>
                    <a:pt x="2621177" y="27227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621177" cy="446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78324" y="1512043"/>
            <a:ext cx="103646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and Technologies Used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91860" y="1095375"/>
            <a:ext cx="8960213" cy="104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29"/>
              </a:lnSpc>
            </a:pPr>
            <a:r>
              <a:rPr lang="en-US" sz="7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 Features</a:t>
            </a:r>
          </a:p>
        </p:txBody>
      </p:sp>
      <p:sp>
        <p:nvSpPr>
          <p:cNvPr id="3" name="Freeform 3"/>
          <p:cNvSpPr/>
          <p:nvPr/>
        </p:nvSpPr>
        <p:spPr>
          <a:xfrm>
            <a:off x="897319" y="793521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6825506" flipH="1">
            <a:off x="1671476" y="-104949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2102741" y="0"/>
                </a:moveTo>
                <a:lnTo>
                  <a:pt x="0" y="0"/>
                </a:lnTo>
                <a:lnTo>
                  <a:pt x="0" y="2776435"/>
                </a:lnTo>
                <a:lnTo>
                  <a:pt x="2102741" y="2776435"/>
                </a:lnTo>
                <a:lnTo>
                  <a:pt x="2102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825506">
            <a:off x="14894013" y="816091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4"/>
                </a:lnTo>
                <a:lnTo>
                  <a:pt x="0" y="2776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425821" y="1263879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9258300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238091" y="-4184414"/>
            <a:ext cx="4202211" cy="6003158"/>
            <a:chOff x="0" y="0"/>
            <a:chExt cx="4445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r="-20173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94883" y="2496345"/>
            <a:ext cx="610299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Tabular display of: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24849" y="3449466"/>
            <a:ext cx="371204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Arrival 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97879" y="3449466"/>
            <a:ext cx="344911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Burst 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91185" y="3449466"/>
            <a:ext cx="38765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Waiting 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46381" y="4382281"/>
            <a:ext cx="56010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Completion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9210" y="4401331"/>
            <a:ext cx="560109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Turnaround Time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94883" y="5629421"/>
            <a:ext cx="734911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Automatic calculation of: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24849" y="6647514"/>
            <a:ext cx="599758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Average Waiting Time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32576" y="6733812"/>
            <a:ext cx="72267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Average Turnaround Time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94883" y="7708852"/>
            <a:ext cx="1062810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Text-based Gantt Chart for visualization.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 and user-friendly interface.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21585" y="2199922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155733">
            <a:off x="15457351" y="811951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5"/>
                </a:lnTo>
                <a:lnTo>
                  <a:pt x="0" y="2776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358982" flipV="1">
            <a:off x="-676635" y="-22925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4"/>
                </a:moveTo>
                <a:lnTo>
                  <a:pt x="2102741" y="2776434"/>
                </a:lnTo>
                <a:lnTo>
                  <a:pt x="2102741" y="0"/>
                </a:lnTo>
                <a:lnTo>
                  <a:pt x="0" y="0"/>
                </a:lnTo>
                <a:lnTo>
                  <a:pt x="0" y="27764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81304" y="1600448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9044592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172208" y="856523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7708591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42042" y="2027865"/>
            <a:ext cx="12894342" cy="6748370"/>
          </a:xfrm>
          <a:custGeom>
            <a:avLst/>
            <a:gdLst/>
            <a:ahLst/>
            <a:cxnLst/>
            <a:rect l="l" t="t" r="r" b="b"/>
            <a:pathLst>
              <a:path w="12894342" h="6748370">
                <a:moveTo>
                  <a:pt x="0" y="0"/>
                </a:moveTo>
                <a:lnTo>
                  <a:pt x="12894341" y="0"/>
                </a:lnTo>
                <a:lnTo>
                  <a:pt x="12894341" y="6748370"/>
                </a:lnTo>
                <a:lnTo>
                  <a:pt x="0" y="6748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3682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184385" y="486983"/>
            <a:ext cx="4847283" cy="1052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9"/>
              </a:lnSpc>
            </a:pPr>
            <a:r>
              <a:rPr lang="en-US" sz="61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92606" y="2027865"/>
            <a:ext cx="10102787" cy="5894434"/>
            <a:chOff x="0" y="0"/>
            <a:chExt cx="1172053" cy="683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053" cy="683830"/>
            </a:xfrm>
            <a:custGeom>
              <a:avLst/>
              <a:gdLst/>
              <a:ahLst/>
              <a:cxnLst/>
              <a:rect l="l" t="t" r="r" b="b"/>
              <a:pathLst>
                <a:path w="1172053" h="683830">
                  <a:moveTo>
                    <a:pt x="26821" y="0"/>
                  </a:moveTo>
                  <a:lnTo>
                    <a:pt x="1145232" y="0"/>
                  </a:lnTo>
                  <a:cubicBezTo>
                    <a:pt x="1160045" y="0"/>
                    <a:pt x="1172053" y="12008"/>
                    <a:pt x="1172053" y="26821"/>
                  </a:cubicBezTo>
                  <a:lnTo>
                    <a:pt x="1172053" y="657009"/>
                  </a:lnTo>
                  <a:cubicBezTo>
                    <a:pt x="1172053" y="664122"/>
                    <a:pt x="1169227" y="670944"/>
                    <a:pt x="1164197" y="675974"/>
                  </a:cubicBezTo>
                  <a:cubicBezTo>
                    <a:pt x="1159167" y="681004"/>
                    <a:pt x="1152345" y="683830"/>
                    <a:pt x="1145232" y="683830"/>
                  </a:cubicBezTo>
                  <a:lnTo>
                    <a:pt x="26821" y="683830"/>
                  </a:lnTo>
                  <a:cubicBezTo>
                    <a:pt x="12008" y="683830"/>
                    <a:pt x="0" y="671822"/>
                    <a:pt x="0" y="657009"/>
                  </a:cubicBezTo>
                  <a:lnTo>
                    <a:pt x="0" y="26821"/>
                  </a:lnTo>
                  <a:cubicBezTo>
                    <a:pt x="0" y="12008"/>
                    <a:pt x="12008" y="0"/>
                    <a:pt x="26821" y="0"/>
                  </a:cubicBezTo>
                  <a:close/>
                </a:path>
              </a:pathLst>
            </a:custGeom>
            <a:blipFill>
              <a:blip r:embed="rId3"/>
              <a:stretch>
                <a:fillRect l="-6003" r="-6003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4" name="Freeform 4"/>
          <p:cNvSpPr/>
          <p:nvPr/>
        </p:nvSpPr>
        <p:spPr>
          <a:xfrm>
            <a:off x="15824655" y="5809612"/>
            <a:ext cx="470358" cy="470358"/>
          </a:xfrm>
          <a:custGeom>
            <a:avLst/>
            <a:gdLst/>
            <a:ahLst/>
            <a:cxnLst/>
            <a:rect l="l" t="t" r="r" b="b"/>
            <a:pathLst>
              <a:path w="470358" h="470358">
                <a:moveTo>
                  <a:pt x="0" y="0"/>
                </a:moveTo>
                <a:lnTo>
                  <a:pt x="470358" y="0"/>
                </a:lnTo>
                <a:lnTo>
                  <a:pt x="470358" y="470358"/>
                </a:lnTo>
                <a:lnTo>
                  <a:pt x="0" y="4703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9155733">
            <a:off x="15457351" y="8119516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0"/>
                </a:moveTo>
                <a:lnTo>
                  <a:pt x="2102741" y="0"/>
                </a:lnTo>
                <a:lnTo>
                  <a:pt x="2102741" y="2776435"/>
                </a:lnTo>
                <a:lnTo>
                  <a:pt x="0" y="27764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358982" flipV="1">
            <a:off x="-676635" y="-229254"/>
            <a:ext cx="2102741" cy="2776434"/>
          </a:xfrm>
          <a:custGeom>
            <a:avLst/>
            <a:gdLst/>
            <a:ahLst/>
            <a:cxnLst/>
            <a:rect l="l" t="t" r="r" b="b"/>
            <a:pathLst>
              <a:path w="2102741" h="2776434">
                <a:moveTo>
                  <a:pt x="0" y="2776434"/>
                </a:moveTo>
                <a:lnTo>
                  <a:pt x="2102741" y="2776434"/>
                </a:lnTo>
                <a:lnTo>
                  <a:pt x="2102741" y="0"/>
                </a:lnTo>
                <a:lnTo>
                  <a:pt x="0" y="0"/>
                </a:lnTo>
                <a:lnTo>
                  <a:pt x="0" y="27764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81304" y="1600448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92406" y="9507734"/>
            <a:ext cx="463142" cy="463142"/>
          </a:xfrm>
          <a:custGeom>
            <a:avLst/>
            <a:gdLst/>
            <a:ahLst/>
            <a:cxnLst/>
            <a:rect l="l" t="t" r="r" b="b"/>
            <a:pathLst>
              <a:path w="463142" h="463142">
                <a:moveTo>
                  <a:pt x="0" y="0"/>
                </a:moveTo>
                <a:lnTo>
                  <a:pt x="463142" y="0"/>
                </a:lnTo>
                <a:lnTo>
                  <a:pt x="463142" y="463142"/>
                </a:lnTo>
                <a:lnTo>
                  <a:pt x="0" y="463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03037" y="5382195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7"/>
                </a:lnTo>
                <a:lnTo>
                  <a:pt x="0" y="427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7708591"/>
            <a:ext cx="427417" cy="427417"/>
          </a:xfrm>
          <a:custGeom>
            <a:avLst/>
            <a:gdLst/>
            <a:ahLst/>
            <a:cxnLst/>
            <a:rect l="l" t="t" r="r" b="b"/>
            <a:pathLst>
              <a:path w="427417" h="427417">
                <a:moveTo>
                  <a:pt x="0" y="0"/>
                </a:moveTo>
                <a:lnTo>
                  <a:pt x="427417" y="0"/>
                </a:lnTo>
                <a:lnTo>
                  <a:pt x="427417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Two men in military uniforms&#10;&#10;AI-generated content may be incorrect.">
            <a:extLst>
              <a:ext uri="{FF2B5EF4-FFF2-40B4-BE49-F238E27FC236}">
                <a16:creationId xmlns:a16="http://schemas.microsoft.com/office/drawing/2014/main" id="{4A7C4846-34E6-91D7-5519-688EA2A4A0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420</Words>
  <Application>Microsoft Office PowerPoint</Application>
  <PresentationFormat>Custom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 Bold</vt:lpstr>
      <vt:lpstr>Montserrat Bold</vt:lpstr>
      <vt:lpstr>Canva Sans</vt:lpstr>
      <vt:lpstr>Arial</vt:lpstr>
      <vt:lpstr>Calibri</vt:lpstr>
      <vt:lpstr>Aptos</vt:lpstr>
      <vt:lpstr>Canva Sans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Medical Operating Room Presentation</dc:title>
  <cp:lastModifiedBy>user</cp:lastModifiedBy>
  <cp:revision>6</cp:revision>
  <dcterms:created xsi:type="dcterms:W3CDTF">2006-08-16T00:00:00Z</dcterms:created>
  <dcterms:modified xsi:type="dcterms:W3CDTF">2026-01-29T07:51:25Z</dcterms:modified>
  <dc:identifier>DAG-mUHtOUU</dc:identifier>
</cp:coreProperties>
</file>